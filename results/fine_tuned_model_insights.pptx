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45e25be5354cdb" /><Relationship Type="http://schemas.openxmlformats.org/officeDocument/2006/relationships/extended-properties" Target="/docProps/app.xml" Id="R4de4de3c994c4d8b" /><Relationship Type="http://schemas.openxmlformats.org/officeDocument/2006/relationships/officeDocument" Target="/ppt/presentation.xml" Id="Rbe129db2123640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e665190195429c"/>
  </p:sldMasterIdLst>
  <p:notesMasterIdLst>
    <p:notesMasterId xmlns:r="http://schemas.openxmlformats.org/officeDocument/2006/relationships" r:id="Rfb573073e0814b12"/>
  </p:notesMasterIdLst>
  <p:sldIdLst>
    <p:sldId xmlns:r="http://schemas.openxmlformats.org/officeDocument/2006/relationships" id="256" r:id="R9ac61e91a36242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8f62e569714db7" /><Relationship Type="http://schemas.openxmlformats.org/officeDocument/2006/relationships/slideMaster" Target="/ppt/slideMasters/slideMaster1.xml" Id="Rd0e665190195429c" /><Relationship Type="http://schemas.openxmlformats.org/officeDocument/2006/relationships/notesMaster" Target="/ppt/notesMasters/notesMaster1.xml" Id="Rfb573073e0814b12" /><Relationship Type="http://schemas.openxmlformats.org/officeDocument/2006/relationships/presProps" Target="/ppt/presProps.xml" Id="R93bb389fe8a54259" /><Relationship Type="http://schemas.openxmlformats.org/officeDocument/2006/relationships/tableStyles" Target="/ppt/tableStyles.xml" Id="Re5e5b056c91d49a7" /><Relationship Type="http://schemas.openxmlformats.org/officeDocument/2006/relationships/slide" Target="/ppt/slides/slide1.xml" Id="R9ac61e91a36242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7e4435ab0c4d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69170c54cf49f3" /><Relationship Type="http://schemas.openxmlformats.org/officeDocument/2006/relationships/notesMaster" Target="/ppt/notesMasters/notesMaster1.xml" Id="R89fb3fe3b1bd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Focus on the current fine-tuned model. The strongest result is LORO ESN (R² 0.771). The most important improvement is LOMO ESN: R² increases by 0.0908 and NRMSE decreases by 9.2%, indicating better generalization to unseen materials. LOTO remains the main limitation because the model still does not transfer reliably to a completely unseen temperature.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model-performance table (XGBoost update 2 and fine-tuned current update).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85407a2fc84a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546395143f4bf1" /><Relationship Type="http://schemas.openxmlformats.org/officeDocument/2006/relationships/slideLayout" Target="/ppt/slideLayouts/slideLayout1.xml" Id="Ra4d290fb82644b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d290fb82644b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d0af023dc4ec4" /><Relationship Type="http://schemas.openxmlformats.org/officeDocument/2006/relationships/notesSlide" Target="/ppt/notesSlides/notesSlide1.xml" Id="R6434e447228e42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092DC5E-858D-44CD-BFEF-614F0CF9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784"/>
          </a:solidFill>
          <a:ln xmlns:a="http://schemas.openxmlformats.org/drawingml/2006/main" w="9525">
            <a:solidFill>
              <a:srgbClr val="176784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AC6240-71B7-45E0-A009-745950E0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323A"/>
                </a:solidFill>
              </a:defRPr>
            </a:pPr>
            <a:r>
              <a:rPr sz="2025" b="1">
                <a:solidFill>
                  <a:srgbClr val="24323A"/>
                </a:solidFill>
              </a:rPr>
              <a:t>Fine-tuning improves material generalization; temperature transfer remains weak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144F100-6E4A-4DAE-BE4F-6136BDC2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27A"/>
                </a:solidFill>
              </a:defRPr>
            </a:pPr>
            <a:r>
              <a:rPr sz="1275">
                <a:solidFill>
                  <a:srgbClr val="63727A"/>
                </a:solidFill>
              </a:rPr>
              <a:t>Effusivity regression | XGBoost baseline vs fine-tuned ESN + XGBoost hyperparameters</a:t>
            </a:r>
          </a:p>
        </p:txBody>
      </p:sp>
      <p:sp>
        <p:nvSpPr>
          <p:cNvPr id="4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6F60E604-CCB1-4EC0-BC38-F400A325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676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784"/>
          </a:solidFill>
          <a:ln xmlns:a="http://schemas.openxmlformats.org/drawingml/2006/main" w="9525">
            <a:solidFill>
              <a:srgbClr val="17678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9B8CB-BF30-40C7-8239-DAE0717D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Protocol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20EB6-53D1-44BB-8450-A1FD994F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33525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8C683-4226-42F7-A74F-C47CAC47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53352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XGB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NRMSE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FCA04-D250-4484-B7F7-9CADF344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53352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Fine-tuned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5D95F-5CE1-4BF3-8BDD-8D5719E8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3352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XGB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5E06F-5ED8-4981-8113-A6233679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3352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Fine-tuned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317F3-50C1-4B90-8012-F5513671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6762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F82A4-BB6B-4AFB-AEA1-414C7648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B555A"/>
                </a:solidFill>
              </a:defRPr>
            </a:pPr>
            <a:r>
              <a:rPr sz="1350">
                <a:solidFill>
                  <a:srgbClr val="4B555A"/>
                </a:solidFill>
              </a:rPr>
              <a:t>LORO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EEDE0-82F8-45FE-BC66-A0D3E389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717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7BE"/>
                </a:solidFill>
              </a:defRPr>
            </a:pPr>
            <a:r>
              <a:rPr sz="1350" b="1">
                <a:solidFill>
                  <a:srgbClr val="0877BE"/>
                </a:solidFill>
              </a:rPr>
              <a:t>ESN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6A907-82D7-4A44-9A7E-C1EADF3B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621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343A"/>
                </a:solidFill>
              </a:defRPr>
            </a:pPr>
            <a:r>
              <a:rPr sz="1275" b="0">
                <a:solidFill>
                  <a:srgbClr val="28343A"/>
                </a:solidFill>
              </a:rPr>
              <a:t>0.160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0FDC6B-7F0F-4185-BFEE-E8DFE518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33600"/>
            <a:ext cx="10953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396AC-366D-48F5-9D6B-41F8BAC3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621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75"/>
                </a:solidFill>
              </a:defRPr>
            </a:pPr>
            <a:r>
              <a:rPr sz="1275" b="1">
                <a:solidFill>
                  <a:srgbClr val="087F75"/>
                </a:solidFill>
              </a:rPr>
              <a:t>0.144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8903A-9EB0-4DA9-8DB2-E8117D22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621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343A"/>
                </a:solidFill>
              </a:defRPr>
            </a:pPr>
            <a:r>
              <a:rPr sz="1275" b="0">
                <a:solidFill>
                  <a:srgbClr val="28343A"/>
                </a:solidFill>
              </a:rPr>
              <a:t>0.718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B70E3-EE3D-4749-A5C3-0D87D684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10953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835D5-D141-4800-BE10-3E8C9E81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621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75"/>
                </a:solidFill>
              </a:defRPr>
            </a:pPr>
            <a:r>
              <a:rPr sz="1275" b="1">
                <a:solidFill>
                  <a:srgbClr val="087F75"/>
                </a:solidFill>
              </a:rPr>
              <a:t>0.771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7BD3F-39AE-4809-98B7-0B5B9061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6762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21CB2-55E2-48A1-BD55-82B60C8E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B555A"/>
                </a:solidFill>
              </a:defRPr>
            </a:pPr>
            <a:r>
              <a:rPr sz="1350">
                <a:solidFill>
                  <a:srgbClr val="4B555A"/>
                </a:solidFill>
              </a:rPr>
              <a:t>LORO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475AB-226D-41E8-B0B2-4C671AB4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765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3B32"/>
                </a:solidFill>
              </a:defRPr>
            </a:pPr>
            <a:r>
              <a:rPr sz="1350" b="1">
                <a:solidFill>
                  <a:srgbClr val="D63B32"/>
                </a:solidFill>
              </a:rPr>
              <a:t>Thermal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B36DA-B309-4CC8-8B98-8FD648AE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343A"/>
                </a:solidFill>
              </a:defRPr>
            </a:pPr>
            <a:r>
              <a:rPr sz="1275" b="0">
                <a:solidFill>
                  <a:srgbClr val="28343A"/>
                </a:solidFill>
              </a:rPr>
              <a:t>0.164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ED79C-A036-4D89-813E-4CFCAF88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38425"/>
            <a:ext cx="10953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A43D03-609C-486F-B69F-C62F2429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670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75"/>
                </a:solidFill>
              </a:defRPr>
            </a:pPr>
            <a:r>
              <a:rPr sz="1275" b="1">
                <a:solidFill>
                  <a:srgbClr val="087F75"/>
                </a:solidFill>
              </a:rPr>
              <a:t>0.159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2A35E-B9AC-4035-9BD7-A705CE0F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343A"/>
                </a:solidFill>
              </a:defRPr>
            </a:pPr>
            <a:r>
              <a:rPr sz="1275" b="0">
                <a:solidFill>
                  <a:srgbClr val="28343A"/>
                </a:solidFill>
              </a:rPr>
              <a:t>0.703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6138D-FDDA-4308-811F-0BAB341A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10953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65C565-3CF8-471B-8CDC-DD6B631A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75"/>
                </a:solidFill>
              </a:defRPr>
            </a:pPr>
            <a:r>
              <a:rPr sz="1275" b="1">
                <a:solidFill>
                  <a:srgbClr val="087F75"/>
                </a:solidFill>
              </a:rPr>
              <a:t>0.723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44B1A7-A955-462B-B024-53936CDE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6762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1268EA-840C-4E72-B173-29FFBE3D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B555A"/>
                </a:solidFill>
              </a:defRPr>
            </a:pPr>
            <a:r>
              <a:rPr sz="1350">
                <a:solidFill>
                  <a:srgbClr val="4B555A"/>
                </a:solidFill>
              </a:rPr>
              <a:t>LOMO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71437E-CA25-471F-946D-885FBF28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813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7BE"/>
                </a:solidFill>
              </a:defRPr>
            </a:pPr>
            <a:r>
              <a:rPr sz="1350" b="1">
                <a:solidFill>
                  <a:srgbClr val="0877BE"/>
                </a:solidFill>
              </a:rPr>
              <a:t>ESN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5DE789-25F3-448F-AA89-36D25DFF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718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343A"/>
                </a:solidFill>
              </a:defRPr>
            </a:pPr>
            <a:r>
              <a:rPr sz="1275" b="0">
                <a:solidFill>
                  <a:srgbClr val="28343A"/>
                </a:solidFill>
              </a:rPr>
              <a:t>0.217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3766ED-9741-490E-A362-75EFE9B3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10953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FC048C-C341-458B-B602-693F92BA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718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75"/>
                </a:solidFill>
              </a:defRPr>
            </a:pPr>
            <a:r>
              <a:rPr sz="1275" b="1">
                <a:solidFill>
                  <a:srgbClr val="087F75"/>
                </a:solidFill>
              </a:rPr>
              <a:t>0.197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5B6CA3-07FC-4DE9-8345-B391CC13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718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343A"/>
                </a:solidFill>
              </a:defRPr>
            </a:pPr>
            <a:r>
              <a:rPr sz="1275" b="0">
                <a:solidFill>
                  <a:srgbClr val="28343A"/>
                </a:solidFill>
              </a:rPr>
              <a:t>0.482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A485-5080-4B96-9BE3-BD4E9800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0953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D5CA36-BDC7-4737-B07C-03C69756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718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75"/>
                </a:solidFill>
              </a:defRPr>
            </a:pPr>
            <a:r>
              <a:rPr sz="1275" b="1">
                <a:solidFill>
                  <a:srgbClr val="087F75"/>
                </a:solidFill>
              </a:rPr>
              <a:t>0.572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6531A4-D214-4695-AAF2-81461BC2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6762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126699-8932-4AFB-B98C-5262136C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B555A"/>
                </a:solidFill>
              </a:defRPr>
            </a:pPr>
            <a:r>
              <a:rPr sz="1350">
                <a:solidFill>
                  <a:srgbClr val="4B555A"/>
                </a:solidFill>
              </a:rPr>
              <a:t>LOMO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9308E1-6CC5-4B70-8069-ED83197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3B32"/>
                </a:solidFill>
              </a:defRPr>
            </a:pPr>
            <a:r>
              <a:rPr sz="1350" b="1">
                <a:solidFill>
                  <a:srgbClr val="D63B32"/>
                </a:solidFill>
              </a:rPr>
              <a:t>Thermal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DA45A0-10FB-44F6-BF37-313A821F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76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343A"/>
                </a:solidFill>
              </a:defRPr>
            </a:pPr>
            <a:r>
              <a:rPr sz="1275" b="0">
                <a:solidFill>
                  <a:srgbClr val="28343A"/>
                </a:solidFill>
              </a:rPr>
              <a:t>0.220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9EB32C-8934-488C-96D7-CA537E1F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48075"/>
            <a:ext cx="10953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8A5568-EF35-409D-8DEE-9DE5DA9D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76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343A"/>
                </a:solidFill>
              </a:defRPr>
            </a:pPr>
            <a:r>
              <a:rPr sz="1275" b="1">
                <a:solidFill>
                  <a:srgbClr val="28343A"/>
                </a:solidFill>
              </a:rPr>
              <a:t>0.221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A5C95D-BD59-4037-84B3-2A0B2FE9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76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343A"/>
                </a:solidFill>
              </a:defRPr>
            </a:pPr>
            <a:r>
              <a:rPr sz="1275" b="0">
                <a:solidFill>
                  <a:srgbClr val="28343A"/>
                </a:solidFill>
              </a:rPr>
              <a:t>0.470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640861-6F51-434A-8BDD-649D87F5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48075"/>
            <a:ext cx="10953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FBD4FC-3E93-49EE-9E0E-DE969005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76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343A"/>
                </a:solidFill>
              </a:defRPr>
            </a:pPr>
            <a:r>
              <a:rPr sz="1275" b="1">
                <a:solidFill>
                  <a:srgbClr val="28343A"/>
                </a:solidFill>
              </a:rPr>
              <a:t>0.465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C895C9-4D7A-4894-9B59-2492E2B5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6762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EECDB3-3CA9-4B23-8925-FDBA483C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B555A"/>
                </a:solidFill>
              </a:defRPr>
            </a:pPr>
            <a:r>
              <a:rPr sz="1350">
                <a:solidFill>
                  <a:srgbClr val="4B555A"/>
                </a:solidFill>
              </a:rPr>
              <a:t>LOTO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EDEEC6-991D-44C5-A6EF-215649AD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7BE"/>
                </a:solidFill>
              </a:defRPr>
            </a:pPr>
            <a:r>
              <a:rPr sz="1350" b="1">
                <a:solidFill>
                  <a:srgbClr val="0877BE"/>
                </a:solidFill>
              </a:rPr>
              <a:t>ESN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4262BB-F272-4749-A6D3-0EF1E7A3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814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343A"/>
                </a:solidFill>
              </a:defRPr>
            </a:pPr>
            <a:r>
              <a:rPr sz="1275" b="0">
                <a:solidFill>
                  <a:srgbClr val="28343A"/>
                </a:solidFill>
              </a:rPr>
              <a:t>0.335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336575-B179-4A58-A4BE-EBA4BC76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52900"/>
            <a:ext cx="10953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8AF831-C666-4B0B-AB62-94C23475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814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75"/>
                </a:solidFill>
              </a:defRPr>
            </a:pPr>
            <a:r>
              <a:rPr sz="1275" b="1">
                <a:solidFill>
                  <a:srgbClr val="087F75"/>
                </a:solidFill>
              </a:rPr>
              <a:t>0.318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242AA2-6E74-4138-BC7F-68411690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814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343A"/>
                </a:solidFill>
              </a:defRPr>
            </a:pPr>
            <a:r>
              <a:rPr sz="1275" b="0">
                <a:solidFill>
                  <a:srgbClr val="28343A"/>
                </a:solidFill>
              </a:rPr>
              <a:t>−0.235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A431BF-1DF1-4295-B8D7-E15E09BD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10953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5C975D-B91E-448C-A8F0-6AA62832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814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75"/>
                </a:solidFill>
              </a:defRPr>
            </a:pPr>
            <a:r>
              <a:rPr sz="1275" b="1">
                <a:solidFill>
                  <a:srgbClr val="087F75"/>
                </a:solidFill>
              </a:rPr>
              <a:t>−0.115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55A05A-6540-4B65-8FF6-FDF15BA5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6762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BF0B95-5779-4C92-A072-3B7BA823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B555A"/>
                </a:solidFill>
              </a:defRPr>
            </a:pPr>
            <a:r>
              <a:rPr sz="1350">
                <a:solidFill>
                  <a:srgbClr val="4B555A"/>
                </a:solidFill>
              </a:rPr>
              <a:t>LOTO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537E67-7351-475C-A580-241849AF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3B32"/>
                </a:solidFill>
              </a:defRPr>
            </a:pPr>
            <a:r>
              <a:rPr sz="1350" b="1">
                <a:solidFill>
                  <a:srgbClr val="D63B32"/>
                </a:solidFill>
              </a:rPr>
              <a:t>Thermal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9B3BE0-A19C-4E50-9409-D462C0D5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863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343A"/>
                </a:solidFill>
              </a:defRPr>
            </a:pPr>
            <a:r>
              <a:rPr sz="1275" b="0">
                <a:solidFill>
                  <a:srgbClr val="28343A"/>
                </a:solidFill>
              </a:rPr>
              <a:t>0.335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20EAF0-EAAB-40FB-91F8-04321F63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57725"/>
            <a:ext cx="10953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00E1C3-87F6-43D4-99BD-B63FB6AF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6863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F75"/>
                </a:solidFill>
              </a:defRPr>
            </a:pPr>
            <a:r>
              <a:rPr sz="1275" b="1">
                <a:solidFill>
                  <a:srgbClr val="087F75"/>
                </a:solidFill>
              </a:rPr>
              <a:t>0.292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B96BEF-7540-4A39-A3A0-5BF51B2F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863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343A"/>
                </a:solidFill>
              </a:defRPr>
            </a:pPr>
            <a:r>
              <a:rPr sz="1275" b="0">
                <a:solidFill>
                  <a:srgbClr val="28343A"/>
                </a:solidFill>
              </a:rPr>
              <a:t>0.110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08D990D-9E5A-4011-8B13-2E4EB4AA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57725"/>
            <a:ext cx="10953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BE43A2-9131-4ED1-9311-E90AA6C9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863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343A"/>
                </a:solidFill>
              </a:defRPr>
            </a:pPr>
            <a:r>
              <a:rPr sz="1275" b="1">
                <a:solidFill>
                  <a:srgbClr val="28343A"/>
                </a:solidFill>
              </a:rPr>
              <a:t>0.064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5894CE-7C15-4B4A-A6F6-9E641646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438275"/>
            <a:ext cx="190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1616D4-104C-40B7-ACDB-7C8E41BA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438275"/>
            <a:ext cx="190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DD57E3-2A4C-47CE-BB7C-C93233E0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38275"/>
            <a:ext cx="190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9B3214E-9397-4031-9B10-70F7E9DF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438275"/>
            <a:ext cx="190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433968-6D6D-4B3A-9C15-3656F315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38275"/>
            <a:ext cx="190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812F66-9205-4A9F-816B-185C3AC7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63727A"/>
                </a:solidFill>
              </a:defRPr>
            </a:pPr>
            <a:r>
              <a:rPr sz="1050" i="1">
                <a:solidFill>
                  <a:srgbClr val="63727A"/>
                </a:solidFill>
              </a:rPr>
              <a:t>Lower NRMSE is better  •  Higher R² is better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6B2F56-0898-45DC-AECB-BE6CC90C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38275"/>
            <a:ext cx="28575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784"/>
          </a:solidFill>
          <a:ln xmlns:a="http://schemas.openxmlformats.org/drawingml/2006/main" w="9525">
            <a:solidFill>
              <a:srgbClr val="17678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4C37003-8C07-47C3-A9FE-D961C818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6784"/>
                </a:solidFill>
              </a:defRPr>
            </a:pPr>
            <a:r>
              <a:rPr sz="1650" b="1">
                <a:solidFill>
                  <a:srgbClr val="176784"/>
                </a:solidFill>
              </a:rPr>
              <a:t>What the improved results show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7EAC6F2-9048-42A0-A7B5-1A62A8B9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33575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784"/>
                </a:solidFill>
              </a:defRPr>
            </a:pPr>
            <a:r>
              <a:rPr sz="2550" b="1">
                <a:solidFill>
                  <a:srgbClr val="176784"/>
                </a:solidFill>
              </a:rPr>
              <a:t>0.771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7B6D78-1C36-4AE5-86B1-942D4659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4310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23A"/>
                </a:solidFill>
              </a:defRPr>
            </a:pPr>
            <a:r>
              <a:rPr sz="1350" b="1">
                <a:solidFill>
                  <a:srgbClr val="24323A"/>
                </a:solidFill>
              </a:rPr>
              <a:t>Best R²: LORO with ESN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124FDF-7DAA-42CB-83D7-51CF1F03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3727A"/>
                </a:solidFill>
              </a:defRPr>
            </a:pPr>
            <a:r>
              <a:rPr sz="1125">
                <a:solidFill>
                  <a:srgbClr val="63727A"/>
                </a:solidFill>
              </a:rPr>
              <a:t>Repetitions generalize well when material and temperature are represented in training.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FEAE76F-3C09-426D-815C-8DD7E57D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19425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75"/>
                </a:solidFill>
              </a:defRPr>
            </a:pPr>
            <a:r>
              <a:rPr sz="2175" b="1">
                <a:solidFill>
                  <a:srgbClr val="087F75"/>
                </a:solidFill>
              </a:rPr>
              <a:t>+9.1 pp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2C26771-0CD3-480E-84E9-FC04C75C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23A"/>
                </a:solidFill>
              </a:defRPr>
            </a:pPr>
            <a:r>
              <a:rPr sz="1350" b="1">
                <a:solidFill>
                  <a:srgbClr val="24323A"/>
                </a:solidFill>
              </a:rPr>
              <a:t>Largest gain: ESN–LOMO R²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0C35BBB-E695-47F5-AB53-1EBB454D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38525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3727A"/>
                </a:solidFill>
              </a:defRPr>
            </a:pPr>
            <a:r>
              <a:rPr sz="1125">
                <a:solidFill>
                  <a:srgbClr val="63727A"/>
                </a:solidFill>
              </a:rPr>
              <a:t>R² rises from 0.482 to 0.572 while NRMSE falls by 9.2% — stronger prediction of unseen materials.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37896F2-CC78-4E36-B830-D541478A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38625"/>
            <a:ext cx="1200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05A45"/>
                </a:solidFill>
              </a:defRPr>
            </a:pPr>
            <a:r>
              <a:rPr sz="2100" b="1">
                <a:solidFill>
                  <a:srgbClr val="C05A45"/>
                </a:solidFill>
              </a:rPr>
              <a:t>LOTO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69CE3E-F6B3-41D4-8A4E-33019F10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481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23A"/>
                </a:solidFill>
              </a:defRPr>
            </a:pPr>
            <a:r>
              <a:rPr sz="1350" b="1">
                <a:solidFill>
                  <a:srgbClr val="24323A"/>
                </a:solidFill>
              </a:rPr>
              <a:t>Temperature transfer remains weak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0055AE1-4D04-40B6-A655-28FC66C0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33925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3727A"/>
                </a:solidFill>
              </a:defRPr>
            </a:pPr>
            <a:r>
              <a:rPr sz="1050">
                <a:solidFill>
                  <a:srgbClr val="63727A"/>
                </a:solidFill>
              </a:rPr>
              <a:t>ESN R² remains negative (−0.115); Thermal R² is only 0.064. Fine-tuning reduces error, but does not yet enable robust prediction at an unseen temperature.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8FA132-CA02-44C4-904D-48597AA7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81DDB70-758F-4CA8-8D46-1447419A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784"/>
                </a:solidFill>
              </a:defRPr>
            </a:pPr>
            <a:r>
              <a:rPr sz="1200" b="1">
                <a:solidFill>
                  <a:srgbClr val="176784"/>
                </a:solidFill>
              </a:rPr>
              <a:t>Takeaway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596648B-4FD9-4AF8-B24C-F88EF4E5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1150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3A"/>
                </a:solidFill>
              </a:defRPr>
            </a:pPr>
            <a:r>
              <a:rPr sz="1200" b="1">
                <a:solidFill>
                  <a:srgbClr val="24323A"/>
                </a:solidFill>
              </a:rPr>
              <a:t>Fine-tuning most improves ESN material generalization; cross-temperature robustness is the next priority.</a:t>
            </a:r>
          </a:p>
        </p:txBody>
      </p:sp>
    </p:spTree>
    <p:extLst>
      <p:ext uri="{BB962C8B-B14F-4D97-AF65-F5344CB8AC3E}">
        <p14:creationId xmlns:p14="http://schemas.microsoft.com/office/powerpoint/2010/main" val="142535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2026-08-19T00:21:58.3000000Z</dcterms:created>
  <dcterms:modified xsi:type="dcterms:W3CDTF">2026-08-19T00:21:58.3000000Z</dcterms:modified>
</coreProperties>
</file>